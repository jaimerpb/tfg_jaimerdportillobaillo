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A1A667-869F-4255-B0D6-10BB142CA75D}" v="24" dt="2026-03-20T09:22:18.0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Olivares Herrador" userId="4639db01-3db7-46ec-ade6-ae7ff3ca81d8" providerId="ADAL" clId="{C13DC068-F010-47EA-8B98-C165610900A1}"/>
    <pc:docChg chg="custSel modSld">
      <pc:chgData name="Javier Olivares Herrador" userId="4639db01-3db7-46ec-ade6-ae7ff3ca81d8" providerId="ADAL" clId="{C13DC068-F010-47EA-8B98-C165610900A1}" dt="2026-03-20T09:22:18.043" v="218" actId="404"/>
      <pc:docMkLst>
        <pc:docMk/>
      </pc:docMkLst>
      <pc:sldChg chg="modSp mod">
        <pc:chgData name="Javier Olivares Herrador" userId="4639db01-3db7-46ec-ade6-ae7ff3ca81d8" providerId="ADAL" clId="{C13DC068-F010-47EA-8B98-C165610900A1}" dt="2026-03-20T09:22:18.043" v="218" actId="404"/>
        <pc:sldMkLst>
          <pc:docMk/>
          <pc:sldMk cId="301529589" sldId="256"/>
        </pc:sldMkLst>
        <pc:graphicFrameChg chg="mod modGraphic">
          <ac:chgData name="Javier Olivares Herrador" userId="4639db01-3db7-46ec-ade6-ae7ff3ca81d8" providerId="ADAL" clId="{C13DC068-F010-47EA-8B98-C165610900A1}" dt="2026-03-20T09:22:18.043" v="218" actId="404"/>
          <ac:graphicFrameMkLst>
            <pc:docMk/>
            <pc:sldMk cId="301529589" sldId="256"/>
            <ac:graphicFrameMk id="4" creationId="{C6293AF5-280F-15C5-3F88-3EAD0C5CEA7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7240F-ADDA-2759-91E1-441B909C8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0F2A26-82C2-EC41-98E5-E4A5F66C9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FB2EC2-FF0D-A002-E54F-ACFCCAF5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6F8-F8AF-4D09-A169-6330213148BF}" type="datetimeFigureOut">
              <a:rPr lang="es-ES" smtClean="0"/>
              <a:t>20/03/2026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605F3-050E-66D1-B5AE-AB1EB11D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25E7A1-96D3-FDD5-6DCA-93F5862F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AA8CA-0262-4879-A4E8-BF296F0781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681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F1CAE-E257-C118-60AD-49615102B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CAA4EF-F4FD-9110-E572-98B0A6F01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55C2A-B9BA-6CA5-9BAE-2BFF9798F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6F8-F8AF-4D09-A169-6330213148BF}" type="datetimeFigureOut">
              <a:rPr lang="es-ES" smtClean="0"/>
              <a:t>20/03/2026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D4944C-06A4-AFC0-A05D-53C75B95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B904CF-8A7C-FFB7-706F-B76200F7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AA8CA-0262-4879-A4E8-BF296F0781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6569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0DAD5-E437-82FD-CF5B-4AA5A3BDF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5590F9-AD6A-C862-C12E-C59AC3A39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A2989C-B7C4-E67E-EC8A-68F27F5CC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6F8-F8AF-4D09-A169-6330213148BF}" type="datetimeFigureOut">
              <a:rPr lang="es-ES" smtClean="0"/>
              <a:t>20/03/2026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2DF441-5EAA-3DAA-7FFD-DE055CD7A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9DDC4-A4A6-14EA-EBCF-3D1A40B17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AA8CA-0262-4879-A4E8-BF296F0781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434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FEDC9-F66D-AE01-E9C5-7B3284D20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300F85-7BE8-A85D-80AA-273E7C80D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578A4B-F93F-F78B-B708-9B8B110F7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4DB31C-AE71-94D6-BD07-B7BE767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6F8-F8AF-4D09-A169-6330213148BF}" type="datetimeFigureOut">
              <a:rPr lang="es-ES" smtClean="0"/>
              <a:t>20/03/2026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E91A1B-824F-2DD2-2E13-09FC6BBB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9A9DDC-0A5B-1F7C-DB07-44588E40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AA8CA-0262-4879-A4E8-BF296F0781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61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B8D01-4D2F-CA30-38BE-A752654A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DF7303-E8DB-A19E-7F07-1CE54DB91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0F66E2-66BE-7635-6647-F5C3486F3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E713A7-23AE-F3DC-108F-DF993D520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391A62D-04BE-AE40-9B72-D149176D4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10D83F-5CAA-DD61-EACE-D21026F6E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6F8-F8AF-4D09-A169-6330213148BF}" type="datetimeFigureOut">
              <a:rPr lang="es-ES" smtClean="0"/>
              <a:t>20/03/2026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2049104-14DD-C74A-B14D-008D0981E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148799B-DAB5-1F0A-7A78-2F757C4B8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AA8CA-0262-4879-A4E8-BF296F0781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5761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B0EEB-28EF-7ED1-3DD8-ADC4CA65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F972CC-A7D3-6F63-7583-9091CECD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6F8-F8AF-4D09-A169-6330213148BF}" type="datetimeFigureOut">
              <a:rPr lang="es-ES" smtClean="0"/>
              <a:t>20/03/2026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69EAEDF-01A7-A1C6-D30B-E8E30F6FA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00B18F-8228-CAA9-8DB0-2CBEA81CB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AA8CA-0262-4879-A4E8-BF296F0781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410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E7C9A95-140B-2F68-9579-076F153FD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6F8-F8AF-4D09-A169-6330213148BF}" type="datetimeFigureOut">
              <a:rPr lang="es-ES" smtClean="0"/>
              <a:t>20/03/2026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8690CC-8D83-8B28-383F-7FEB44671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03D441-CF67-6E04-BCB3-A80661256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AA8CA-0262-4879-A4E8-BF296F0781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977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25800-4E2A-7C57-B164-D1B20879F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DF695F-F6C6-9093-7901-AA68F225B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7141D9-D970-CB50-91AE-C5B4A002C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5652D8-778C-EA9B-E9A8-95CC761C3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6F8-F8AF-4D09-A169-6330213148BF}" type="datetimeFigureOut">
              <a:rPr lang="es-ES" smtClean="0"/>
              <a:t>20/03/2026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F49F13-E741-3ED2-5B97-D381AE12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5E5916-B22A-DABA-01AF-12217F1D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AA8CA-0262-4879-A4E8-BF296F0781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4278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FF67A-E14C-0B1A-985D-380D471EB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38CDB3C-5949-BF42-D375-0D9FB6B08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D3E31E-A340-F108-1466-3180D249A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BE260B-5BF2-B114-928D-131E6E8B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6F8-F8AF-4D09-A169-6330213148BF}" type="datetimeFigureOut">
              <a:rPr lang="es-ES" smtClean="0"/>
              <a:t>20/03/2026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0B0306-E56B-8FF9-E1CB-01E5963D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E2ABB5-076C-7DE4-C7BC-258DA063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AA8CA-0262-4879-A4E8-BF296F0781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602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0F3C3-2A9E-B265-CB1F-F24678B22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603C3F-4007-F4C6-D82D-3DEA07254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820813-7C47-E856-6931-1AACBDABE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6F8-F8AF-4D09-A169-6330213148BF}" type="datetimeFigureOut">
              <a:rPr lang="es-ES" smtClean="0"/>
              <a:t>20/03/2026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D1D4B6-C66B-B9C4-F9EA-BC0C43E5D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C3F0C9-3086-28CA-E799-8D3F616D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AA8CA-0262-4879-A4E8-BF296F0781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5825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FAFCBC-21E0-BDD1-B81D-CF4277A753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CD5B64-15BF-6249-A5A6-C2C2BC1EF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AE1409-A426-03BF-FAB2-678018E6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6F8-F8AF-4D09-A169-6330213148BF}" type="datetimeFigureOut">
              <a:rPr lang="es-ES" smtClean="0"/>
              <a:t>20/03/2026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9A870A-09AA-5567-5787-F5C75198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1A885A-51BE-3AE4-FBEB-1215F3B8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AA8CA-0262-4879-A4E8-BF296F0781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697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8A00DE8-7429-620C-A34C-3750AE3EF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A4FE39-1F57-24A2-0BCC-6B3405274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56010B-04F7-7BBE-DBAD-DF6B44D14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8956F8-F8AF-4D09-A169-6330213148BF}" type="datetimeFigureOut">
              <a:rPr lang="es-ES" smtClean="0"/>
              <a:t>20/03/2026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2A1828-2930-A7D8-AE99-F4FF3D741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B87B8A-2AA3-6DA7-BD5F-85478F0DB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AA8CA-0262-4879-A4E8-BF296F0781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555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C6293AF5-280F-15C5-3F88-3EAD0C5CEA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8031051"/>
                  </p:ext>
                </p:extLst>
              </p:nvPr>
            </p:nvGraphicFramePr>
            <p:xfrm>
              <a:off x="475488" y="393192"/>
              <a:ext cx="11411710" cy="68306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6976">
                      <a:extLst>
                        <a:ext uri="{9D8B030D-6E8A-4147-A177-3AD203B41FA5}">
                          <a16:colId xmlns:a16="http://schemas.microsoft.com/office/drawing/2014/main" val="1690552842"/>
                        </a:ext>
                      </a:extLst>
                    </a:gridCol>
                    <a:gridCol w="1956816">
                      <a:extLst>
                        <a:ext uri="{9D8B030D-6E8A-4147-A177-3AD203B41FA5}">
                          <a16:colId xmlns:a16="http://schemas.microsoft.com/office/drawing/2014/main" val="4254231412"/>
                        </a:ext>
                      </a:extLst>
                    </a:gridCol>
                    <a:gridCol w="2212848">
                      <a:extLst>
                        <a:ext uri="{9D8B030D-6E8A-4147-A177-3AD203B41FA5}">
                          <a16:colId xmlns:a16="http://schemas.microsoft.com/office/drawing/2014/main" val="587225970"/>
                        </a:ext>
                      </a:extLst>
                    </a:gridCol>
                    <a:gridCol w="1465893">
                      <a:extLst>
                        <a:ext uri="{9D8B030D-6E8A-4147-A177-3AD203B41FA5}">
                          <a16:colId xmlns:a16="http://schemas.microsoft.com/office/drawing/2014/main" val="3776597874"/>
                        </a:ext>
                      </a:extLst>
                    </a:gridCol>
                    <a:gridCol w="2539177">
                      <a:extLst>
                        <a:ext uri="{9D8B030D-6E8A-4147-A177-3AD203B41FA5}">
                          <a16:colId xmlns:a16="http://schemas.microsoft.com/office/drawing/2014/main" val="14561696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1" dirty="0">
                              <a:solidFill>
                                <a:schemeClr val="tx1"/>
                              </a:solidFill>
                            </a:rPr>
                            <a:t>Estudio teórico estabilidad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1" dirty="0">
                              <a:solidFill>
                                <a:schemeClr val="tx1"/>
                              </a:solidFill>
                            </a:rPr>
                            <a:t>Python </a:t>
                          </a:r>
                          <a:r>
                            <a:rPr lang="es-ES" sz="1400" b="1" dirty="0" err="1">
                              <a:solidFill>
                                <a:schemeClr val="tx1"/>
                              </a:solidFill>
                            </a:rPr>
                            <a:t>solver</a:t>
                          </a:r>
                          <a:endParaRPr lang="es-E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1" dirty="0">
                              <a:solidFill>
                                <a:schemeClr val="tx1"/>
                              </a:solidFill>
                            </a:rPr>
                            <a:t>Estabilidad numérica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1" dirty="0">
                              <a:solidFill>
                                <a:schemeClr val="tx1"/>
                              </a:solidFill>
                            </a:rPr>
                            <a:t>Resolución numérica y espacio de fases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18375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000" b="0" dirty="0">
                              <a:solidFill>
                                <a:schemeClr val="tx1"/>
                              </a:solidFill>
                            </a:rPr>
                            <a:t>PRIORIDAD 4: Plantear. Entender después de seminario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000" b="0" dirty="0">
                              <a:solidFill>
                                <a:schemeClr val="tx1"/>
                              </a:solidFill>
                            </a:rPr>
                            <a:t>PRIORIDAD 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000" b="0" dirty="0">
                              <a:solidFill>
                                <a:schemeClr val="tx1"/>
                              </a:solidFill>
                            </a:rPr>
                            <a:t>PRIORIDAD 2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000" b="0" dirty="0">
                              <a:solidFill>
                                <a:schemeClr val="tx1"/>
                              </a:solidFill>
                            </a:rPr>
                            <a:t>PRIORIDAD 3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1726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400" b="1" dirty="0">
                              <a:solidFill>
                                <a:schemeClr val="tx1"/>
                              </a:solidFill>
                            </a:rPr>
                            <a:t>Only </a:t>
                          </a:r>
                          <a:r>
                            <a:rPr lang="es-ES" sz="1400" b="1" dirty="0" err="1">
                              <a:solidFill>
                                <a:schemeClr val="tx1"/>
                              </a:solidFill>
                            </a:rPr>
                            <a:t>quads</a:t>
                          </a:r>
                          <a:endParaRPr lang="es-ES" sz="14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sup>
                                </m:sSup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𝑞𝑢𝑎𝑑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</a:rPr>
                            <a:t>¿Qué debe de cumplir k(s) según la discusión del primer día?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Def </a:t>
                          </a:r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solve_hills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():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</a:rPr>
                            <a:t>k(s) = 1</a:t>
                          </a:r>
                        </a:p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</a:rPr>
                            <a:t>K(s) = cos(s)</a:t>
                          </a:r>
                        </a:p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</a:rPr>
                            <a:t>K(s) = 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46148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400" b="1" dirty="0">
                              <a:solidFill>
                                <a:schemeClr val="tx1"/>
                              </a:solidFill>
                            </a:rPr>
                            <a:t>Quads+Bending </a:t>
                          </a:r>
                          <a:r>
                            <a:rPr lang="es-ES" sz="1400" b="1" dirty="0" err="1">
                              <a:solidFill>
                                <a:schemeClr val="tx1"/>
                              </a:solidFill>
                            </a:rPr>
                            <a:t>magnet</a:t>
                          </a:r>
                          <a:endParaRPr lang="es-ES" sz="14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sup>
                                </m:sSup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  <m:sSup>
                                          <m:sSupPr>
                                            <m:ctrlPr>
                                              <a:rPr lang="es-E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s-ES" sz="1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𝑞𝑢𝑎𝑑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(Puede verse como un caso particular de </a:t>
                          </a:r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  <a:latin typeface="+mj-lt"/>
                            </a:rPr>
                            <a:t>solve_hills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 donde el vector k(s) lleva la </a:t>
                          </a:r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  <a:latin typeface="+mj-lt"/>
                            </a:rPr>
                            <a:t>info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 del </a:t>
                          </a:r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  <a:latin typeface="+mj-lt"/>
                            </a:rPr>
                            <a:t>quad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 y del BEND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5293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400" b="1" dirty="0">
                              <a:solidFill>
                                <a:schemeClr val="tx1"/>
                              </a:solidFill>
                            </a:rPr>
                            <a:t>Quads +BEND + off-</a:t>
                          </a:r>
                          <a:r>
                            <a:rPr lang="es-ES" sz="1400" b="1" dirty="0" err="1">
                              <a:solidFill>
                                <a:schemeClr val="tx1"/>
                              </a:solidFill>
                            </a:rPr>
                            <a:t>momentum</a:t>
                          </a:r>
                          <a:endParaRPr lang="es-ES" sz="14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sup>
                                </m:sSup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  <m:sSup>
                                          <m:sSupPr>
                                            <m:ctrlPr>
                                              <a:rPr lang="es-E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ES" sz="1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s-ES" sz="14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E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d>
                                      <m:dPr>
                                        <m:ctrlP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num>
                                  <m:den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</a:rPr>
                            <a:t>Idem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</a:rPr>
                            <a:t> con </a:t>
                          </a:r>
                          <a14:m>
                            <m:oMath xmlns:m="http://schemas.openxmlformats.org/officeDocument/2006/math">
                              <m:r>
                                <a:rPr lang="es-E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E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s-E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oMath>
                          </a14:m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Def </a:t>
                          </a:r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solve_hills_off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():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16669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400" b="1" dirty="0">
                              <a:solidFill>
                                <a:schemeClr val="tx1"/>
                              </a:solidFill>
                            </a:rPr>
                            <a:t>Quads+off-momentum+sextupoles</a:t>
                          </a: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sup>
                                </m:sSup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𝑞𝑢𝑎𝑑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</m:d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𝑠𝑒𝑥𝑡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(1−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ES" sz="14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s-ES" sz="1200" b="0" dirty="0">
                              <a:solidFill>
                                <a:schemeClr val="tx1"/>
                              </a:solidFill>
                            </a:rPr>
                            <a:t>(Posibilidad de cancelar </a:t>
                          </a:r>
                          <a14:m>
                            <m:oMath xmlns:m="http://schemas.openxmlformats.org/officeDocument/2006/math">
                              <m:r>
                                <a:rPr lang="es-ES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sSup>
                                <m:sSupPr>
                                  <m:ctrlPr>
                                    <a:rPr lang="es-E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E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s-ES" sz="12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s-ES" sz="1200" b="0" dirty="0" err="1">
                              <a:solidFill>
                                <a:schemeClr val="tx1"/>
                              </a:solidFill>
                            </a:rPr>
                            <a:t>terms</a:t>
                          </a:r>
                          <a:r>
                            <a:rPr lang="es-ES" sz="1200" b="0" dirty="0">
                              <a:solidFill>
                                <a:schemeClr val="tx1"/>
                              </a:solidFill>
                            </a:rPr>
                            <a:t> – truncamiento)</a:t>
                          </a:r>
                        </a:p>
                        <a:p>
                          <a:endParaRPr lang="es-E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</a:rPr>
                            <a:t>Idem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</a:rPr>
                            <a:t> con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s-ES" sz="1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𝑞𝑢𝑎𝑑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s-E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oMath>
                          </a14:m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s-ES" sz="1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𝑠𝑒𝑥𝑡</m:t>
                                  </m:r>
                                </m:sub>
                              </m:sSub>
                            </m:oMath>
                          </a14:m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Def </a:t>
                          </a:r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solve_sext_off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():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552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1400" b="1" dirty="0">
                              <a:solidFill>
                                <a:schemeClr val="tx1"/>
                              </a:solidFill>
                            </a:rPr>
                            <a:t>Quads+BEND+off-momentum+sextupoles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′′</m:t>
                                    </m:r>
                                  </m:sup>
                                </m:sSup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+[</m:t>
                                </m:r>
                                <m:f>
                                  <m:f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sSup>
                                      <m:sSupPr>
                                        <m:ctrlP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E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ES" sz="1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ES" sz="1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d>
                                  <m:d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</m:d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𝑠𝑒𝑥𝑡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(1−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num>
                                  <m:den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s-E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sz="1400" b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100" b="0" dirty="0">
                              <a:solidFill>
                                <a:schemeClr val="tx1"/>
                              </a:solidFill>
                            </a:rPr>
                            <a:t>(Posibilidad de cancelar </a:t>
                          </a:r>
                          <a14:m>
                            <m:oMath xmlns:m="http://schemas.openxmlformats.org/officeDocument/2006/math">
                              <m:r>
                                <a:rPr lang="es-ES" sz="11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sSup>
                                <m:sSupPr>
                                  <m:ctrlPr>
                                    <a:rPr lang="es-ES" sz="11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11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ES" sz="11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s-ES" sz="11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s-ES" sz="1100" b="0" dirty="0" err="1">
                              <a:solidFill>
                                <a:schemeClr val="tx1"/>
                              </a:solidFill>
                            </a:rPr>
                            <a:t>terms</a:t>
                          </a:r>
                          <a:r>
                            <a:rPr lang="es-ES" sz="1100" b="0" dirty="0">
                              <a:solidFill>
                                <a:schemeClr val="tx1"/>
                              </a:solidFill>
                            </a:rPr>
                            <a:t> – truncamiento)</a:t>
                          </a:r>
                        </a:p>
                        <a:p>
                          <a:endParaRPr lang="es-E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254991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C6293AF5-280F-15C5-3F88-3EAD0C5CEA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8031051"/>
                  </p:ext>
                </p:extLst>
              </p:nvPr>
            </p:nvGraphicFramePr>
            <p:xfrm>
              <a:off x="475488" y="393192"/>
              <a:ext cx="11411710" cy="68306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6976">
                      <a:extLst>
                        <a:ext uri="{9D8B030D-6E8A-4147-A177-3AD203B41FA5}">
                          <a16:colId xmlns:a16="http://schemas.microsoft.com/office/drawing/2014/main" val="1690552842"/>
                        </a:ext>
                      </a:extLst>
                    </a:gridCol>
                    <a:gridCol w="1956816">
                      <a:extLst>
                        <a:ext uri="{9D8B030D-6E8A-4147-A177-3AD203B41FA5}">
                          <a16:colId xmlns:a16="http://schemas.microsoft.com/office/drawing/2014/main" val="4254231412"/>
                        </a:ext>
                      </a:extLst>
                    </a:gridCol>
                    <a:gridCol w="2212848">
                      <a:extLst>
                        <a:ext uri="{9D8B030D-6E8A-4147-A177-3AD203B41FA5}">
                          <a16:colId xmlns:a16="http://schemas.microsoft.com/office/drawing/2014/main" val="587225970"/>
                        </a:ext>
                      </a:extLst>
                    </a:gridCol>
                    <a:gridCol w="1465893">
                      <a:extLst>
                        <a:ext uri="{9D8B030D-6E8A-4147-A177-3AD203B41FA5}">
                          <a16:colId xmlns:a16="http://schemas.microsoft.com/office/drawing/2014/main" val="3776597874"/>
                        </a:ext>
                      </a:extLst>
                    </a:gridCol>
                    <a:gridCol w="2539177">
                      <a:extLst>
                        <a:ext uri="{9D8B030D-6E8A-4147-A177-3AD203B41FA5}">
                          <a16:colId xmlns:a16="http://schemas.microsoft.com/office/drawing/2014/main" val="1456169652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s-E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1" dirty="0">
                              <a:solidFill>
                                <a:schemeClr val="tx1"/>
                              </a:solidFill>
                            </a:rPr>
                            <a:t>Estudio teórico estabilidad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1" dirty="0">
                              <a:solidFill>
                                <a:schemeClr val="tx1"/>
                              </a:solidFill>
                            </a:rPr>
                            <a:t>Python </a:t>
                          </a:r>
                          <a:r>
                            <a:rPr lang="es-ES" sz="1400" b="1" dirty="0" err="1">
                              <a:solidFill>
                                <a:schemeClr val="tx1"/>
                              </a:solidFill>
                            </a:rPr>
                            <a:t>solver</a:t>
                          </a:r>
                          <a:endParaRPr lang="es-E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1" dirty="0">
                              <a:solidFill>
                                <a:schemeClr val="tx1"/>
                              </a:solidFill>
                            </a:rPr>
                            <a:t>Estabilidad numérica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1" dirty="0">
                              <a:solidFill>
                                <a:schemeClr val="tx1"/>
                              </a:solidFill>
                            </a:rPr>
                            <a:t>Resolución numérica y espacio de fases</a:t>
                          </a:r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183756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E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000" b="0" dirty="0">
                              <a:solidFill>
                                <a:schemeClr val="tx1"/>
                              </a:solidFill>
                            </a:rPr>
                            <a:t>PRIORIDAD 4: Plantear. Entender después de seminario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000" b="0" dirty="0">
                              <a:solidFill>
                                <a:schemeClr val="tx1"/>
                              </a:solidFill>
                            </a:rPr>
                            <a:t>PRIORIDAD 1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000" b="0" dirty="0">
                              <a:solidFill>
                                <a:schemeClr val="tx1"/>
                              </a:solidFill>
                            </a:rPr>
                            <a:t>PRIORIDAD 2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000" b="0" dirty="0">
                              <a:solidFill>
                                <a:schemeClr val="tx1"/>
                              </a:solidFill>
                            </a:rPr>
                            <a:t>PRIORIDAD 3</a:t>
                          </a:r>
                        </a:p>
                      </a:txBody>
                      <a:tcP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1726678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377" t="-125833" r="-253107" b="-71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</a:rPr>
                            <a:t>¿Qué debe de cumplir k(s) según la discusión del primer día?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Def </a:t>
                          </a:r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solve_hills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():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</a:rPr>
                            <a:t>k(s) = 1</a:t>
                          </a:r>
                        </a:p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</a:rPr>
                            <a:t>K(s) = cos(s)</a:t>
                          </a:r>
                        </a:p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</a:rPr>
                            <a:t>K(s) = 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4614823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377" t="-173718" r="-253107" b="-44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(Puede verse como un caso particular de </a:t>
                          </a:r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  <a:latin typeface="+mj-lt"/>
                            </a:rPr>
                            <a:t>solve_hills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 donde el vector k(s) lleva la </a:t>
                          </a:r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  <a:latin typeface="+mj-lt"/>
                            </a:rPr>
                            <a:t>info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 del </a:t>
                          </a:r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  <a:latin typeface="+mj-lt"/>
                            </a:rPr>
                            <a:t>quad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 y del BEND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529382"/>
                      </a:ext>
                    </a:extLst>
                  </a:tr>
                  <a:tr h="77959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377" t="-333594" r="-253107" b="-44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166044" t="-333594" r="-318692" b="-44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Def </a:t>
                          </a:r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solve_hills_off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():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1666962"/>
                      </a:ext>
                    </a:extLst>
                  </a:tr>
                  <a:tr h="1513142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377" t="-223790" r="-253107" b="-129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166044" t="-223790" r="-318692" b="-129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Def </a:t>
                          </a:r>
                          <a:r>
                            <a:rPr lang="es-ES" sz="1400" b="0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solve_sext_off</a:t>
                          </a:r>
                          <a:r>
                            <a:rPr lang="es-ES" sz="1400" b="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():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552690"/>
                      </a:ext>
                    </a:extLst>
                  </a:tr>
                  <a:tr h="1947164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377" t="-250938" r="-253107" b="-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 sz="1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254991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15295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213</Words>
  <Application>Microsoft Office PowerPoint</Application>
  <PresentationFormat>Panorámica</PresentationFormat>
  <Paragraphs>30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Consolas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Olivares Herrador</dc:creator>
  <cp:lastModifiedBy>Javier Olivares Herrador</cp:lastModifiedBy>
  <cp:revision>1</cp:revision>
  <dcterms:created xsi:type="dcterms:W3CDTF">2026-03-20T08:46:05Z</dcterms:created>
  <dcterms:modified xsi:type="dcterms:W3CDTF">2026-03-20T09:22:26Z</dcterms:modified>
</cp:coreProperties>
</file>